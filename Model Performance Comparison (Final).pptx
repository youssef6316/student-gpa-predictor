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85" r:id="rId18"/>
    <p:sldId id="274" r:id="rId19"/>
    <p:sldId id="276" r:id="rId20"/>
    <p:sldId id="277" r:id="rId21"/>
    <p:sldId id="279" r:id="rId22"/>
    <p:sldId id="280" r:id="rId23"/>
    <p:sldId id="284" r:id="rId24"/>
  </p:sldIdLst>
  <p:sldSz cx="18288000" cy="10287000"/>
  <p:notesSz cx="6858000" cy="9144000"/>
  <p:embeddedFontLst>
    <p:embeddedFont>
      <p:font typeface="Monami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Arimo" panose="020B0604020202020204" charset="0"/>
      <p:regular r:id="rId30"/>
    </p:embeddedFont>
    <p:embeddedFont>
      <p:font typeface="Arimo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455" autoAdjust="0"/>
  </p:normalViewPr>
  <p:slideViewPr>
    <p:cSldViewPr>
      <p:cViewPr varScale="1">
        <p:scale>
          <a:sx n="61" d="100"/>
          <a:sy n="61" d="100"/>
        </p:scale>
        <p:origin x="5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543800" cy="10287000"/>
            <a:chOff x="0" y="0"/>
            <a:chExt cx="100584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058400" cy="13716000"/>
            </a:xfrm>
            <a:custGeom>
              <a:avLst/>
              <a:gdLst/>
              <a:ahLst/>
              <a:cxnLst/>
              <a:rect l="l" t="t" r="r" b="b"/>
              <a:pathLst>
                <a:path w="10058400" h="137160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7" y="3241774"/>
            <a:ext cx="9445526" cy="2791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Student Performance Analysis: Predicting Academic Success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7" y="6353472"/>
            <a:ext cx="944552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32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 Data Science Approach to Identifying Key Performance Factors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772" y="-43544"/>
            <a:ext cx="18309771" cy="10330543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1772" y="-43543"/>
            <a:ext cx="18309772" cy="10330543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88776" y="436512"/>
            <a:ext cx="8165306" cy="719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Introduction &amp; 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776" y="2126731"/>
            <a:ext cx="3016895" cy="364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Why This Project Matters: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8776" y="2944134"/>
            <a:ext cx="82151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6219" lvl="1" indent="-113109" algn="l">
              <a:lnSpc>
                <a:spcPts val="2437"/>
              </a:lnSpc>
              <a:buFont typeface="Arial"/>
              <a:buChar char="•"/>
            </a:pPr>
            <a:r>
              <a:rPr lang="en-US" sz="24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Early identification of at-risk students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8776" y="3435713"/>
            <a:ext cx="821516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6219" lvl="1" indent="-113109" algn="l">
              <a:lnSpc>
                <a:spcPts val="2437"/>
              </a:lnSpc>
              <a:buFont typeface="Arial"/>
              <a:buChar char="•"/>
            </a:pPr>
            <a:r>
              <a:rPr lang="en-US" sz="24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Understanding key performance factors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8776" y="3927292"/>
            <a:ext cx="775684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6219" lvl="1" indent="-113109" algn="l">
              <a:lnSpc>
                <a:spcPts val="2437"/>
              </a:lnSpc>
              <a:buFont typeface="Arial"/>
              <a:buChar char="•"/>
            </a:pPr>
            <a:r>
              <a:rPr lang="en-US" sz="24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Data-driven insights over subjective assessments</a:t>
            </a:r>
          </a:p>
        </p:txBody>
      </p:sp>
      <p:sp>
        <p:nvSpPr>
          <p:cNvPr id="13" name="TextBox 13"/>
          <p:cNvSpPr txBox="1"/>
          <p:nvPr/>
        </p:nvSpPr>
        <p:spPr>
          <a:xfrm rot="10800000" flipV="1">
            <a:off x="9444845" y="827556"/>
            <a:ext cx="326600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800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Project Goal: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4845" y="1511985"/>
            <a:ext cx="821516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24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Build a predictive model to identify at-risk students and determine the most influential factors affecting success.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36905" y="3160298"/>
            <a:ext cx="6820082" cy="6093940"/>
            <a:chOff x="0" y="0"/>
            <a:chExt cx="10953552" cy="10953552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0953496" cy="10953496"/>
            </a:xfrm>
            <a:custGeom>
              <a:avLst/>
              <a:gdLst/>
              <a:ahLst/>
              <a:cxnLst/>
              <a:rect l="l" t="t" r="r" b="b"/>
              <a:pathLst>
                <a:path w="10953496" h="10953496">
                  <a:moveTo>
                    <a:pt x="0" y="0"/>
                  </a:moveTo>
                  <a:lnTo>
                    <a:pt x="10953496" y="0"/>
                  </a:lnTo>
                  <a:lnTo>
                    <a:pt x="10953496" y="10953496"/>
                  </a:lnTo>
                  <a:lnTo>
                    <a:pt x="0" y="10953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87475" y="2400300"/>
            <a:ext cx="7088237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Dataset Overview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7475" y="4108102"/>
            <a:ext cx="16313051" cy="3523804"/>
            <a:chOff x="0" y="0"/>
            <a:chExt cx="21750735" cy="46984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2" cy="4698365"/>
            </a:xfrm>
            <a:custGeom>
              <a:avLst/>
              <a:gdLst/>
              <a:ahLst/>
              <a:cxnLst/>
              <a:rect l="l" t="t" r="r" b="b"/>
              <a:pathLst>
                <a:path w="21750782" h="4698365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740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4533265"/>
                  </a:lnTo>
                  <a:lnTo>
                    <a:pt x="21744432" y="4533265"/>
                  </a:lnTo>
                  <a:lnTo>
                    <a:pt x="21750782" y="4533265"/>
                  </a:lnTo>
                  <a:cubicBezTo>
                    <a:pt x="21750782" y="4624451"/>
                    <a:pt x="21676740" y="4698365"/>
                    <a:pt x="21585301" y="4698365"/>
                  </a:cubicBezTo>
                  <a:lnTo>
                    <a:pt x="21585301" y="4692015"/>
                  </a:lnTo>
                  <a:lnTo>
                    <a:pt x="21585301" y="4698365"/>
                  </a:lnTo>
                  <a:lnTo>
                    <a:pt x="165481" y="4698365"/>
                  </a:lnTo>
                  <a:lnTo>
                    <a:pt x="165481" y="4692015"/>
                  </a:lnTo>
                  <a:lnTo>
                    <a:pt x="165481" y="4698365"/>
                  </a:lnTo>
                  <a:cubicBezTo>
                    <a:pt x="74041" y="4698365"/>
                    <a:pt x="0" y="4624451"/>
                    <a:pt x="0" y="453326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533265"/>
                  </a:lnTo>
                  <a:lnTo>
                    <a:pt x="6350" y="4533265"/>
                  </a:lnTo>
                  <a:lnTo>
                    <a:pt x="12700" y="4533265"/>
                  </a:lnTo>
                  <a:cubicBezTo>
                    <a:pt x="12700" y="4617466"/>
                    <a:pt x="81153" y="4685665"/>
                    <a:pt x="165481" y="4685665"/>
                  </a:cubicBezTo>
                  <a:lnTo>
                    <a:pt x="21585301" y="4685665"/>
                  </a:lnTo>
                  <a:cubicBezTo>
                    <a:pt x="21669756" y="4685665"/>
                    <a:pt x="21738082" y="4617339"/>
                    <a:pt x="21738082" y="4533265"/>
                  </a:cubicBezTo>
                  <a:lnTo>
                    <a:pt x="21738082" y="165100"/>
                  </a:lnTo>
                  <a:cubicBezTo>
                    <a:pt x="21738082" y="80899"/>
                    <a:pt x="21669629" y="12700"/>
                    <a:pt x="2158530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285429" y="4225826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Key Information: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0562" y="5173642"/>
            <a:ext cx="4313485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5,000 student records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0562" y="5696099"/>
            <a:ext cx="431348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15 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original + </a:t>
            </a: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6 new 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features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3190" y="6250898"/>
            <a:ext cx="4313485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Target: </a:t>
            </a:r>
            <a:r>
              <a:rPr lang="en-US" sz="2187" dirty="0" err="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Class_Grade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(0-3 scale)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75474" y="4225826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Feature Categories: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847" y="5137695"/>
            <a:ext cx="1082724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Demographic: Age, Gender, Ethnicity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72847" y="5589686"/>
            <a:ext cx="1082724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Academic: GPA, Study Time Weekly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2847" y="6063406"/>
            <a:ext cx="1082724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Attendance: </a:t>
            </a:r>
            <a:r>
              <a:rPr lang="en-US" sz="2187" dirty="0" err="1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Absence_Rate</a:t>
            </a: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, Absence Impact</a:t>
            </a:r>
            <a:endParaRPr lang="en-US" sz="2187" dirty="0">
              <a:solidFill>
                <a:srgbClr val="8F8F8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72847" y="6525071"/>
            <a:ext cx="1082724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Support: Parental Education</a:t>
            </a: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187" dirty="0" err="1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Parental_Support</a:t>
            </a: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Tutoring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72847" y="7001024"/>
            <a:ext cx="1082724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Extracurricular: Sports, Music, Volunteering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56276"/>
            <a:ext cx="18298886" cy="10343276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1814661"/>
            <a:ext cx="7827912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Data Cleaning Process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120" y="3419311"/>
            <a:ext cx="205387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8" y="3844826"/>
            <a:ext cx="8009930" cy="38100"/>
            <a:chOff x="0" y="0"/>
            <a:chExt cx="10679907" cy="50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91511" y="4014788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Drop </a:t>
            </a:r>
            <a:r>
              <a:rPr lang="en-US" sz="2750" dirty="0" err="1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StudentID</a:t>
            </a:r>
            <a:endParaRPr lang="en-US" sz="2750" dirty="0">
              <a:solidFill>
                <a:srgbClr val="8F8F8F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13282" y="4356496"/>
            <a:ext cx="800993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Removed irrelevant unique identifier.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34932" y="3419311"/>
            <a:ext cx="179026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85685" y="3844826"/>
            <a:ext cx="8010079" cy="38100"/>
            <a:chOff x="0" y="0"/>
            <a:chExt cx="10680105" cy="50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262037" y="4038542"/>
            <a:ext cx="420320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Verify No Missing Values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62037" y="4832179"/>
            <a:ext cx="801007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Ensured 0% missing data.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8" y="5619601"/>
            <a:ext cx="91276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03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92238" y="6069211"/>
            <a:ext cx="8009930" cy="38100"/>
            <a:chOff x="0" y="0"/>
            <a:chExt cx="10679907" cy="50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92238" y="6275896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Rename Columns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4009" y="6664787"/>
            <a:ext cx="800993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Improved clarity for analysis.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5684" y="5619601"/>
            <a:ext cx="92511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04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85685" y="6069211"/>
            <a:ext cx="8010079" cy="38100"/>
            <a:chOff x="0" y="0"/>
            <a:chExt cx="10680105" cy="50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262037" y="6314236"/>
            <a:ext cx="4809232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Check Duplicates &amp; Outliers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62037" y="7121042"/>
            <a:ext cx="801007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Confirmed no duplicates or significant outliers.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238" y="7919518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Cleaning ensures reliable analysis and modeling from real-world data inconsistencies.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1597372"/>
            <a:ext cx="7088237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Feature Engineering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264" y="3228379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Creating new features captures meaningful relationships and provides more predictive signals than raw data.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3188" y="3937248"/>
            <a:ext cx="5283547" cy="2201615"/>
            <a:chOff x="0" y="0"/>
            <a:chExt cx="7044730" cy="2935487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6993890" cy="2884678"/>
            </a:xfrm>
            <a:custGeom>
              <a:avLst/>
              <a:gdLst/>
              <a:ahLst/>
              <a:cxnLst/>
              <a:rect l="l" t="t" r="r" b="b"/>
              <a:pathLst>
                <a:path w="6993890" h="2884678">
                  <a:moveTo>
                    <a:pt x="0" y="158750"/>
                  </a:moveTo>
                  <a:cubicBezTo>
                    <a:pt x="0" y="71120"/>
                    <a:pt x="71755" y="0"/>
                    <a:pt x="160401" y="0"/>
                  </a:cubicBezTo>
                  <a:lnTo>
                    <a:pt x="6833489" y="0"/>
                  </a:lnTo>
                  <a:cubicBezTo>
                    <a:pt x="6922135" y="0"/>
                    <a:pt x="6993890" y="71120"/>
                    <a:pt x="6993890" y="158750"/>
                  </a:cubicBezTo>
                  <a:lnTo>
                    <a:pt x="6993890" y="2725928"/>
                  </a:lnTo>
                  <a:cubicBezTo>
                    <a:pt x="6993890" y="2813558"/>
                    <a:pt x="6922135" y="2884678"/>
                    <a:pt x="6833489" y="2884678"/>
                  </a:cubicBezTo>
                  <a:lnTo>
                    <a:pt x="160401" y="2884678"/>
                  </a:lnTo>
                  <a:cubicBezTo>
                    <a:pt x="71755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7044690" cy="2935478"/>
            </a:xfrm>
            <a:custGeom>
              <a:avLst/>
              <a:gdLst/>
              <a:ahLst/>
              <a:cxnLst/>
              <a:rect l="l" t="t" r="r" b="b"/>
              <a:pathLst>
                <a:path w="7044690" h="2935478">
                  <a:moveTo>
                    <a:pt x="0" y="184150"/>
                  </a:moveTo>
                  <a:cubicBezTo>
                    <a:pt x="0" y="82169"/>
                    <a:pt x="83439" y="0"/>
                    <a:pt x="185801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690" y="82169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2751328"/>
                  </a:lnTo>
                  <a:lnTo>
                    <a:pt x="7019290" y="2751328"/>
                  </a:lnTo>
                  <a:lnTo>
                    <a:pt x="7044690" y="2751328"/>
                  </a:lnTo>
                  <a:cubicBezTo>
                    <a:pt x="7044690" y="2853309"/>
                    <a:pt x="6961251" y="2935478"/>
                    <a:pt x="6858889" y="2935478"/>
                  </a:cubicBezTo>
                  <a:lnTo>
                    <a:pt x="6858889" y="2910078"/>
                  </a:lnTo>
                  <a:lnTo>
                    <a:pt x="6858889" y="2935478"/>
                  </a:lnTo>
                  <a:lnTo>
                    <a:pt x="185801" y="2935478"/>
                  </a:lnTo>
                  <a:lnTo>
                    <a:pt x="185801" y="2910078"/>
                  </a:lnTo>
                  <a:lnTo>
                    <a:pt x="185801" y="2935478"/>
                  </a:lnTo>
                  <a:cubicBezTo>
                    <a:pt x="83439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734"/>
                    <a:pt x="110998" y="2884678"/>
                    <a:pt x="185801" y="2884678"/>
                  </a:cubicBezTo>
                  <a:lnTo>
                    <a:pt x="6858889" y="2884678"/>
                  </a:lnTo>
                  <a:cubicBezTo>
                    <a:pt x="6933692" y="2884678"/>
                    <a:pt x="6993890" y="2824734"/>
                    <a:pt x="6993890" y="2751328"/>
                  </a:cubicBezTo>
                  <a:lnTo>
                    <a:pt x="6993890" y="184150"/>
                  </a:lnTo>
                  <a:cubicBezTo>
                    <a:pt x="6993890" y="110744"/>
                    <a:pt x="6933692" y="50800"/>
                    <a:pt x="6858889" y="50800"/>
                  </a:cubicBezTo>
                  <a:lnTo>
                    <a:pt x="185801" y="50800"/>
                  </a:lnTo>
                  <a:lnTo>
                    <a:pt x="185801" y="25400"/>
                  </a:lnTo>
                  <a:lnTo>
                    <a:pt x="185801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92238" y="3956297"/>
            <a:ext cx="152400" cy="2163515"/>
            <a:chOff x="0" y="0"/>
            <a:chExt cx="203200" cy="28846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3200" cy="2884678"/>
            </a:xfrm>
            <a:custGeom>
              <a:avLst/>
              <a:gdLst/>
              <a:ahLst/>
              <a:cxnLst/>
              <a:rect l="l" t="t" r="r" b="b"/>
              <a:pathLst>
                <a:path w="203200" h="288467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466255" y="4201716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Is_Child</a:t>
            </a:r>
            <a:endParaRPr lang="en-US" sz="2750" dirty="0">
              <a:solidFill>
                <a:srgbClr val="8F8F8F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66255" y="4753386"/>
            <a:ext cx="4449812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Age &lt; 18 (captures developmental differences)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86759" y="3996512"/>
            <a:ext cx="5283547" cy="2201615"/>
            <a:chOff x="0" y="0"/>
            <a:chExt cx="7044730" cy="2935487"/>
          </a:xfrm>
        </p:grpSpPr>
        <p:sp>
          <p:nvSpPr>
            <p:cNvPr id="18" name="Freeform 18"/>
            <p:cNvSpPr/>
            <p:nvPr/>
          </p:nvSpPr>
          <p:spPr>
            <a:xfrm>
              <a:off x="25400" y="25400"/>
              <a:ext cx="6993890" cy="2884678"/>
            </a:xfrm>
            <a:custGeom>
              <a:avLst/>
              <a:gdLst/>
              <a:ahLst/>
              <a:cxnLst/>
              <a:rect l="l" t="t" r="r" b="b"/>
              <a:pathLst>
                <a:path w="6993890" h="2884678">
                  <a:moveTo>
                    <a:pt x="0" y="158750"/>
                  </a:moveTo>
                  <a:cubicBezTo>
                    <a:pt x="0" y="71120"/>
                    <a:pt x="71755" y="0"/>
                    <a:pt x="160401" y="0"/>
                  </a:cubicBezTo>
                  <a:lnTo>
                    <a:pt x="6833489" y="0"/>
                  </a:lnTo>
                  <a:cubicBezTo>
                    <a:pt x="6922135" y="0"/>
                    <a:pt x="6993890" y="71120"/>
                    <a:pt x="6993890" y="158750"/>
                  </a:cubicBezTo>
                  <a:lnTo>
                    <a:pt x="6993890" y="2725928"/>
                  </a:lnTo>
                  <a:cubicBezTo>
                    <a:pt x="6993890" y="2813558"/>
                    <a:pt x="6922135" y="2884678"/>
                    <a:pt x="6833489" y="2884678"/>
                  </a:cubicBezTo>
                  <a:lnTo>
                    <a:pt x="160401" y="2884678"/>
                  </a:lnTo>
                  <a:cubicBezTo>
                    <a:pt x="71755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044690" cy="2935478"/>
            </a:xfrm>
            <a:custGeom>
              <a:avLst/>
              <a:gdLst/>
              <a:ahLst/>
              <a:cxnLst/>
              <a:rect l="l" t="t" r="r" b="b"/>
              <a:pathLst>
                <a:path w="7044690" h="2935478">
                  <a:moveTo>
                    <a:pt x="0" y="184150"/>
                  </a:moveTo>
                  <a:cubicBezTo>
                    <a:pt x="0" y="82169"/>
                    <a:pt x="83439" y="0"/>
                    <a:pt x="185801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690" y="82169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2751328"/>
                  </a:lnTo>
                  <a:lnTo>
                    <a:pt x="7019290" y="2751328"/>
                  </a:lnTo>
                  <a:lnTo>
                    <a:pt x="7044690" y="2751328"/>
                  </a:lnTo>
                  <a:cubicBezTo>
                    <a:pt x="7044690" y="2853309"/>
                    <a:pt x="6961251" y="2935478"/>
                    <a:pt x="6858889" y="2935478"/>
                  </a:cubicBezTo>
                  <a:lnTo>
                    <a:pt x="6858889" y="2910078"/>
                  </a:lnTo>
                  <a:lnTo>
                    <a:pt x="6858889" y="2935478"/>
                  </a:lnTo>
                  <a:lnTo>
                    <a:pt x="185801" y="2935478"/>
                  </a:lnTo>
                  <a:lnTo>
                    <a:pt x="185801" y="2910078"/>
                  </a:lnTo>
                  <a:lnTo>
                    <a:pt x="185801" y="2935478"/>
                  </a:lnTo>
                  <a:cubicBezTo>
                    <a:pt x="83439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734"/>
                    <a:pt x="110998" y="2884678"/>
                    <a:pt x="185801" y="2884678"/>
                  </a:cubicBezTo>
                  <a:lnTo>
                    <a:pt x="6858889" y="2884678"/>
                  </a:lnTo>
                  <a:cubicBezTo>
                    <a:pt x="6933692" y="2884678"/>
                    <a:pt x="6993890" y="2824734"/>
                    <a:pt x="6993890" y="2751328"/>
                  </a:cubicBezTo>
                  <a:lnTo>
                    <a:pt x="6993890" y="184150"/>
                  </a:lnTo>
                  <a:cubicBezTo>
                    <a:pt x="6993890" y="110744"/>
                    <a:pt x="6933692" y="50800"/>
                    <a:pt x="6858889" y="50800"/>
                  </a:cubicBezTo>
                  <a:lnTo>
                    <a:pt x="185801" y="50800"/>
                  </a:lnTo>
                  <a:lnTo>
                    <a:pt x="185801" y="25400"/>
                  </a:lnTo>
                  <a:lnTo>
                    <a:pt x="185801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521202" y="3956297"/>
            <a:ext cx="152400" cy="2163515"/>
            <a:chOff x="0" y="0"/>
            <a:chExt cx="203200" cy="28846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3200" cy="2884678"/>
            </a:xfrm>
            <a:custGeom>
              <a:avLst/>
              <a:gdLst/>
              <a:ahLst/>
              <a:cxnLst/>
              <a:rect l="l" t="t" r="r" b="b"/>
              <a:pathLst>
                <a:path w="203200" h="288467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6995219" y="4201716"/>
            <a:ext cx="406252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Study_Efficiency</a:t>
            </a:r>
            <a:endParaRPr lang="en-US" sz="2750" dirty="0">
              <a:solidFill>
                <a:srgbClr val="8F8F8F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993554" y="4736232"/>
            <a:ext cx="4449812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err="1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StudyTime</a:t>
            </a: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/Absences </a:t>
            </a:r>
          </a:p>
          <a:p>
            <a:pPr algn="l">
              <a:lnSpc>
                <a:spcPts val="3562"/>
              </a:lnSpc>
            </a:pP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(better 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than raw study hours)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31116" y="3937248"/>
            <a:ext cx="5283547" cy="2201615"/>
            <a:chOff x="0" y="0"/>
            <a:chExt cx="7044730" cy="2935487"/>
          </a:xfrm>
        </p:grpSpPr>
        <p:sp>
          <p:nvSpPr>
            <p:cNvPr id="25" name="Freeform 25"/>
            <p:cNvSpPr/>
            <p:nvPr/>
          </p:nvSpPr>
          <p:spPr>
            <a:xfrm>
              <a:off x="25400" y="25400"/>
              <a:ext cx="6993890" cy="2884678"/>
            </a:xfrm>
            <a:custGeom>
              <a:avLst/>
              <a:gdLst/>
              <a:ahLst/>
              <a:cxnLst/>
              <a:rect l="l" t="t" r="r" b="b"/>
              <a:pathLst>
                <a:path w="6993890" h="2884678">
                  <a:moveTo>
                    <a:pt x="0" y="158750"/>
                  </a:moveTo>
                  <a:cubicBezTo>
                    <a:pt x="0" y="71120"/>
                    <a:pt x="71755" y="0"/>
                    <a:pt x="160401" y="0"/>
                  </a:cubicBezTo>
                  <a:lnTo>
                    <a:pt x="6833489" y="0"/>
                  </a:lnTo>
                  <a:cubicBezTo>
                    <a:pt x="6922135" y="0"/>
                    <a:pt x="6993890" y="71120"/>
                    <a:pt x="6993890" y="158750"/>
                  </a:cubicBezTo>
                  <a:lnTo>
                    <a:pt x="6993890" y="2725928"/>
                  </a:lnTo>
                  <a:cubicBezTo>
                    <a:pt x="6993890" y="2813558"/>
                    <a:pt x="6922135" y="2884678"/>
                    <a:pt x="6833489" y="2884678"/>
                  </a:cubicBezTo>
                  <a:lnTo>
                    <a:pt x="160401" y="2884678"/>
                  </a:lnTo>
                  <a:cubicBezTo>
                    <a:pt x="71755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7044690" cy="2935478"/>
            </a:xfrm>
            <a:custGeom>
              <a:avLst/>
              <a:gdLst/>
              <a:ahLst/>
              <a:cxnLst/>
              <a:rect l="l" t="t" r="r" b="b"/>
              <a:pathLst>
                <a:path w="7044690" h="2935478">
                  <a:moveTo>
                    <a:pt x="0" y="184150"/>
                  </a:moveTo>
                  <a:cubicBezTo>
                    <a:pt x="0" y="82169"/>
                    <a:pt x="83439" y="0"/>
                    <a:pt x="185801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690" y="82169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2751328"/>
                  </a:lnTo>
                  <a:lnTo>
                    <a:pt x="7019290" y="2751328"/>
                  </a:lnTo>
                  <a:lnTo>
                    <a:pt x="7044690" y="2751328"/>
                  </a:lnTo>
                  <a:cubicBezTo>
                    <a:pt x="7044690" y="2853309"/>
                    <a:pt x="6961251" y="2935478"/>
                    <a:pt x="6858889" y="2935478"/>
                  </a:cubicBezTo>
                  <a:lnTo>
                    <a:pt x="6858889" y="2910078"/>
                  </a:lnTo>
                  <a:lnTo>
                    <a:pt x="6858889" y="2935478"/>
                  </a:lnTo>
                  <a:lnTo>
                    <a:pt x="185801" y="2935478"/>
                  </a:lnTo>
                  <a:lnTo>
                    <a:pt x="185801" y="2910078"/>
                  </a:lnTo>
                  <a:lnTo>
                    <a:pt x="185801" y="2935478"/>
                  </a:lnTo>
                  <a:cubicBezTo>
                    <a:pt x="83439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734"/>
                    <a:pt x="110998" y="2884678"/>
                    <a:pt x="185801" y="2884678"/>
                  </a:cubicBezTo>
                  <a:lnTo>
                    <a:pt x="6858889" y="2884678"/>
                  </a:lnTo>
                  <a:cubicBezTo>
                    <a:pt x="6933692" y="2884678"/>
                    <a:pt x="6993890" y="2824734"/>
                    <a:pt x="6993890" y="2751328"/>
                  </a:cubicBezTo>
                  <a:lnTo>
                    <a:pt x="6993890" y="184150"/>
                  </a:lnTo>
                  <a:cubicBezTo>
                    <a:pt x="6993890" y="110744"/>
                    <a:pt x="6933692" y="50800"/>
                    <a:pt x="6858889" y="50800"/>
                  </a:cubicBezTo>
                  <a:lnTo>
                    <a:pt x="185801" y="50800"/>
                  </a:lnTo>
                  <a:lnTo>
                    <a:pt x="185801" y="25400"/>
                  </a:lnTo>
                  <a:lnTo>
                    <a:pt x="185801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050166" y="3956297"/>
            <a:ext cx="152400" cy="2163515"/>
            <a:chOff x="0" y="0"/>
            <a:chExt cx="203200" cy="28846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3200" cy="2884678"/>
            </a:xfrm>
            <a:custGeom>
              <a:avLst/>
              <a:gdLst/>
              <a:ahLst/>
              <a:cxnLst/>
              <a:rect l="l" t="t" r="r" b="b"/>
              <a:pathLst>
                <a:path w="203200" h="288467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524185" y="4201716"/>
            <a:ext cx="3249215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Absence_Rate_Category</a:t>
            </a:r>
            <a:endParaRPr lang="en-US" sz="2750" dirty="0">
              <a:solidFill>
                <a:srgbClr val="8F8F8F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544579" y="5141115"/>
            <a:ext cx="4449812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Categorized as Low/Medium/High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73188" y="6384280"/>
            <a:ext cx="5283547" cy="2190899"/>
            <a:chOff x="0" y="0"/>
            <a:chExt cx="7044730" cy="2921198"/>
          </a:xfrm>
        </p:grpSpPr>
        <p:sp>
          <p:nvSpPr>
            <p:cNvPr id="32" name="Freeform 32"/>
            <p:cNvSpPr/>
            <p:nvPr/>
          </p:nvSpPr>
          <p:spPr>
            <a:xfrm>
              <a:off x="25400" y="25400"/>
              <a:ext cx="6993890" cy="2870327"/>
            </a:xfrm>
            <a:custGeom>
              <a:avLst/>
              <a:gdLst/>
              <a:ahLst/>
              <a:cxnLst/>
              <a:rect l="l" t="t" r="r" b="b"/>
              <a:pathLst>
                <a:path w="6993890" h="2870327">
                  <a:moveTo>
                    <a:pt x="0" y="158750"/>
                  </a:moveTo>
                  <a:cubicBezTo>
                    <a:pt x="0" y="71120"/>
                    <a:pt x="71882" y="0"/>
                    <a:pt x="160401" y="0"/>
                  </a:cubicBezTo>
                  <a:lnTo>
                    <a:pt x="6833489" y="0"/>
                  </a:lnTo>
                  <a:cubicBezTo>
                    <a:pt x="6922135" y="0"/>
                    <a:pt x="6993890" y="71120"/>
                    <a:pt x="6993890" y="158750"/>
                  </a:cubicBezTo>
                  <a:lnTo>
                    <a:pt x="6993890" y="2711577"/>
                  </a:lnTo>
                  <a:cubicBezTo>
                    <a:pt x="6993890" y="2799334"/>
                    <a:pt x="6922008" y="2870327"/>
                    <a:pt x="6833489" y="2870327"/>
                  </a:cubicBezTo>
                  <a:lnTo>
                    <a:pt x="160401" y="2870327"/>
                  </a:lnTo>
                  <a:cubicBezTo>
                    <a:pt x="71755" y="2870327"/>
                    <a:pt x="0" y="2799207"/>
                    <a:pt x="0" y="2711577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7044690" cy="2921254"/>
            </a:xfrm>
            <a:custGeom>
              <a:avLst/>
              <a:gdLst/>
              <a:ahLst/>
              <a:cxnLst/>
              <a:rect l="l" t="t" r="r" b="b"/>
              <a:pathLst>
                <a:path w="7044690" h="2921254">
                  <a:moveTo>
                    <a:pt x="0" y="184150"/>
                  </a:moveTo>
                  <a:cubicBezTo>
                    <a:pt x="0" y="82169"/>
                    <a:pt x="83439" y="0"/>
                    <a:pt x="185801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690" y="82169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2736977"/>
                  </a:lnTo>
                  <a:lnTo>
                    <a:pt x="7019290" y="2736977"/>
                  </a:lnTo>
                  <a:lnTo>
                    <a:pt x="7044690" y="2736977"/>
                  </a:lnTo>
                  <a:cubicBezTo>
                    <a:pt x="7044690" y="2838958"/>
                    <a:pt x="6961251" y="2921127"/>
                    <a:pt x="6858889" y="2921127"/>
                  </a:cubicBezTo>
                  <a:lnTo>
                    <a:pt x="6858889" y="2895727"/>
                  </a:lnTo>
                  <a:lnTo>
                    <a:pt x="6858889" y="2921127"/>
                  </a:lnTo>
                  <a:lnTo>
                    <a:pt x="185801" y="2921127"/>
                  </a:lnTo>
                  <a:lnTo>
                    <a:pt x="185801" y="2895727"/>
                  </a:lnTo>
                  <a:lnTo>
                    <a:pt x="185801" y="2921127"/>
                  </a:lnTo>
                  <a:cubicBezTo>
                    <a:pt x="83439" y="2921254"/>
                    <a:pt x="0" y="2838958"/>
                    <a:pt x="0" y="273697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36977"/>
                  </a:lnTo>
                  <a:lnTo>
                    <a:pt x="25400" y="2736977"/>
                  </a:lnTo>
                  <a:lnTo>
                    <a:pt x="50800" y="2736977"/>
                  </a:lnTo>
                  <a:cubicBezTo>
                    <a:pt x="50800" y="2810383"/>
                    <a:pt x="110998" y="2870327"/>
                    <a:pt x="185801" y="2870327"/>
                  </a:cubicBezTo>
                  <a:lnTo>
                    <a:pt x="6858889" y="2870327"/>
                  </a:lnTo>
                  <a:cubicBezTo>
                    <a:pt x="6933692" y="2870327"/>
                    <a:pt x="6993890" y="2810383"/>
                    <a:pt x="6993890" y="2736977"/>
                  </a:cubicBezTo>
                  <a:lnTo>
                    <a:pt x="6993890" y="184150"/>
                  </a:lnTo>
                  <a:cubicBezTo>
                    <a:pt x="6993890" y="110744"/>
                    <a:pt x="6933692" y="50800"/>
                    <a:pt x="6858889" y="50800"/>
                  </a:cubicBezTo>
                  <a:lnTo>
                    <a:pt x="185801" y="50800"/>
                  </a:lnTo>
                  <a:lnTo>
                    <a:pt x="185801" y="25400"/>
                  </a:lnTo>
                  <a:lnTo>
                    <a:pt x="185801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92238" y="6403330"/>
            <a:ext cx="152400" cy="2152799"/>
            <a:chOff x="0" y="0"/>
            <a:chExt cx="203200" cy="28703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3200" cy="2870454"/>
            </a:xfrm>
            <a:custGeom>
              <a:avLst/>
              <a:gdLst/>
              <a:ahLst/>
              <a:cxnLst/>
              <a:rect l="l" t="t" r="r" b="b"/>
              <a:pathLst>
                <a:path w="203200" h="287045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68854"/>
                  </a:lnTo>
                  <a:cubicBezTo>
                    <a:pt x="203200" y="2824988"/>
                    <a:pt x="157734" y="2870454"/>
                    <a:pt x="101600" y="2870454"/>
                  </a:cubicBezTo>
                  <a:cubicBezTo>
                    <a:pt x="45466" y="2870454"/>
                    <a:pt x="0" y="2824988"/>
                    <a:pt x="0" y="27688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466255" y="6648747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Total_Activities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6255" y="7233196"/>
            <a:ext cx="4449812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Sum of extracurriculars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502152" y="6384280"/>
            <a:ext cx="10793431" cy="2190899"/>
            <a:chOff x="0" y="0"/>
            <a:chExt cx="7044730" cy="2921198"/>
          </a:xfrm>
        </p:grpSpPr>
        <p:sp>
          <p:nvSpPr>
            <p:cNvPr id="39" name="Freeform 39"/>
            <p:cNvSpPr/>
            <p:nvPr/>
          </p:nvSpPr>
          <p:spPr>
            <a:xfrm>
              <a:off x="25400" y="25400"/>
              <a:ext cx="6993890" cy="2870327"/>
            </a:xfrm>
            <a:custGeom>
              <a:avLst/>
              <a:gdLst/>
              <a:ahLst/>
              <a:cxnLst/>
              <a:rect l="l" t="t" r="r" b="b"/>
              <a:pathLst>
                <a:path w="6993890" h="2870327">
                  <a:moveTo>
                    <a:pt x="0" y="158750"/>
                  </a:moveTo>
                  <a:cubicBezTo>
                    <a:pt x="0" y="71120"/>
                    <a:pt x="71882" y="0"/>
                    <a:pt x="160401" y="0"/>
                  </a:cubicBezTo>
                  <a:lnTo>
                    <a:pt x="6833489" y="0"/>
                  </a:lnTo>
                  <a:cubicBezTo>
                    <a:pt x="6922135" y="0"/>
                    <a:pt x="6993890" y="71120"/>
                    <a:pt x="6993890" y="158750"/>
                  </a:cubicBezTo>
                  <a:lnTo>
                    <a:pt x="6993890" y="2711577"/>
                  </a:lnTo>
                  <a:cubicBezTo>
                    <a:pt x="6993890" y="2799334"/>
                    <a:pt x="6922008" y="2870327"/>
                    <a:pt x="6833489" y="2870327"/>
                  </a:cubicBezTo>
                  <a:lnTo>
                    <a:pt x="160401" y="2870327"/>
                  </a:lnTo>
                  <a:cubicBezTo>
                    <a:pt x="71755" y="2870327"/>
                    <a:pt x="0" y="2799207"/>
                    <a:pt x="0" y="2711577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044690" cy="2921254"/>
            </a:xfrm>
            <a:custGeom>
              <a:avLst/>
              <a:gdLst/>
              <a:ahLst/>
              <a:cxnLst/>
              <a:rect l="l" t="t" r="r" b="b"/>
              <a:pathLst>
                <a:path w="7044690" h="2921254">
                  <a:moveTo>
                    <a:pt x="0" y="184150"/>
                  </a:moveTo>
                  <a:cubicBezTo>
                    <a:pt x="0" y="82169"/>
                    <a:pt x="83439" y="0"/>
                    <a:pt x="185801" y="0"/>
                  </a:cubicBezTo>
                  <a:lnTo>
                    <a:pt x="6858889" y="0"/>
                  </a:lnTo>
                  <a:lnTo>
                    <a:pt x="6858889" y="25400"/>
                  </a:lnTo>
                  <a:lnTo>
                    <a:pt x="6858889" y="0"/>
                  </a:lnTo>
                  <a:cubicBezTo>
                    <a:pt x="6961251" y="0"/>
                    <a:pt x="7044690" y="82169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2736977"/>
                  </a:lnTo>
                  <a:lnTo>
                    <a:pt x="7019290" y="2736977"/>
                  </a:lnTo>
                  <a:lnTo>
                    <a:pt x="7044690" y="2736977"/>
                  </a:lnTo>
                  <a:cubicBezTo>
                    <a:pt x="7044690" y="2838958"/>
                    <a:pt x="6961251" y="2921127"/>
                    <a:pt x="6858889" y="2921127"/>
                  </a:cubicBezTo>
                  <a:lnTo>
                    <a:pt x="6858889" y="2895727"/>
                  </a:lnTo>
                  <a:lnTo>
                    <a:pt x="6858889" y="2921127"/>
                  </a:lnTo>
                  <a:lnTo>
                    <a:pt x="185801" y="2921127"/>
                  </a:lnTo>
                  <a:lnTo>
                    <a:pt x="185801" y="2895727"/>
                  </a:lnTo>
                  <a:lnTo>
                    <a:pt x="185801" y="2921127"/>
                  </a:lnTo>
                  <a:cubicBezTo>
                    <a:pt x="83439" y="2921254"/>
                    <a:pt x="0" y="2838958"/>
                    <a:pt x="0" y="273697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36977"/>
                  </a:lnTo>
                  <a:lnTo>
                    <a:pt x="25400" y="2736977"/>
                  </a:lnTo>
                  <a:lnTo>
                    <a:pt x="50800" y="2736977"/>
                  </a:lnTo>
                  <a:cubicBezTo>
                    <a:pt x="50800" y="2810383"/>
                    <a:pt x="110998" y="2870327"/>
                    <a:pt x="185801" y="2870327"/>
                  </a:cubicBezTo>
                  <a:lnTo>
                    <a:pt x="6858889" y="2870327"/>
                  </a:lnTo>
                  <a:cubicBezTo>
                    <a:pt x="6933692" y="2870327"/>
                    <a:pt x="6993890" y="2810383"/>
                    <a:pt x="6993890" y="2736977"/>
                  </a:cubicBezTo>
                  <a:lnTo>
                    <a:pt x="6993890" y="184150"/>
                  </a:lnTo>
                  <a:cubicBezTo>
                    <a:pt x="6993890" y="110744"/>
                    <a:pt x="6933692" y="50800"/>
                    <a:pt x="6858889" y="50800"/>
                  </a:cubicBezTo>
                  <a:lnTo>
                    <a:pt x="185801" y="50800"/>
                  </a:lnTo>
                  <a:lnTo>
                    <a:pt x="185801" y="25400"/>
                  </a:lnTo>
                  <a:lnTo>
                    <a:pt x="185801" y="50800"/>
                  </a:lnTo>
                  <a:cubicBezTo>
                    <a:pt x="110998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521202" y="6403330"/>
            <a:ext cx="152400" cy="2152799"/>
            <a:chOff x="0" y="0"/>
            <a:chExt cx="203200" cy="287039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3200" cy="2870454"/>
            </a:xfrm>
            <a:custGeom>
              <a:avLst/>
              <a:gdLst/>
              <a:ahLst/>
              <a:cxnLst/>
              <a:rect l="l" t="t" r="r" b="b"/>
              <a:pathLst>
                <a:path w="203200" h="2870454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68854"/>
                  </a:lnTo>
                  <a:cubicBezTo>
                    <a:pt x="203200" y="2824988"/>
                    <a:pt x="157734" y="2870454"/>
                    <a:pt x="101600" y="2870454"/>
                  </a:cubicBezTo>
                  <a:cubicBezTo>
                    <a:pt x="45466" y="2870454"/>
                    <a:pt x="0" y="2824988"/>
                    <a:pt x="0" y="27688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6995220" y="6648747"/>
            <a:ext cx="8397180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Absence_Impact</a:t>
            </a: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 &amp; </a:t>
            </a:r>
            <a:r>
              <a:rPr lang="en-US" sz="2750" dirty="0" err="1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Study_Impact</a:t>
            </a:r>
            <a:endParaRPr lang="en-US" sz="2750" dirty="0">
              <a:solidFill>
                <a:srgbClr val="8F8F8F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993554" y="7233196"/>
            <a:ext cx="4449812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Direct measures of effect on GPA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2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762499" y="419100"/>
            <a:ext cx="87630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Target Variable Distribution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2766" y="11194405"/>
            <a:ext cx="16882467" cy="38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The relatively balanced distribution ensures accuracy as a reliable metric and prevents model bias.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1664983"/>
            <a:ext cx="14020800" cy="8004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02047" y="584895"/>
            <a:ext cx="10795546" cy="92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Gender vs. Academic Performance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2047" y="2476500"/>
            <a:ext cx="7927627" cy="131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Female students consistently outperform male students across all grade categories, with the gap most pronounced in higher performance.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2047" y="3945582"/>
            <a:ext cx="7927627" cy="36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 dirty="0" smtClean="0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42.8%</a:t>
            </a: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of female students achieved A</a:t>
            </a: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grades</a:t>
            </a: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2047" y="4448175"/>
            <a:ext cx="7927627" cy="36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 b="1" dirty="0" smtClean="0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44.2%</a:t>
            </a: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of male students achieved </a:t>
            </a: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grades.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2047" y="5092451"/>
            <a:ext cx="7927627" cy="90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 b="1" dirty="0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Recommendation:</a:t>
            </a: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Investigate gender-specific learning approaches and consider tailored support for male students.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663" y="2236878"/>
            <a:ext cx="8291862" cy="61070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317217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507406" y="624223"/>
            <a:ext cx="9689753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Tutoring </a:t>
            </a:r>
            <a:r>
              <a:rPr lang="en-US" sz="5062" dirty="0" smtClean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Popularity</a:t>
            </a:r>
            <a:endParaRPr lang="en-US" sz="5062" dirty="0">
              <a:solidFill>
                <a:srgbClr val="DDDDDD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467850" y="2056359"/>
            <a:ext cx="7927627" cy="36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7"/>
              </a:lnSpc>
            </a:pP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Tutoring has a clear positive effect on student </a:t>
            </a: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performance</a:t>
            </a:r>
            <a:endParaRPr lang="en-US" sz="2000" dirty="0">
              <a:solidFill>
                <a:srgbClr val="8F8F8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467850" y="3113038"/>
            <a:ext cx="8515350" cy="366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1625" lvl="1" indent="-150812">
              <a:lnSpc>
                <a:spcPts val="3187"/>
              </a:lnSpc>
              <a:buFont typeface="Arial"/>
              <a:buChar char="•"/>
            </a:pP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Students </a:t>
            </a: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with tutoring achieve a higher proportion </a:t>
            </a: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of A Grades</a:t>
            </a:r>
            <a:endParaRPr lang="en-US" sz="2000" dirty="0">
              <a:solidFill>
                <a:srgbClr val="8F8F8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467850" y="3615630"/>
            <a:ext cx="7927627" cy="36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>
              <a:lnSpc>
                <a:spcPts val="3187"/>
              </a:lnSpc>
              <a:buFont typeface="Arial"/>
              <a:buChar char="•"/>
            </a:pP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Tutoring significantly reduces the number </a:t>
            </a:r>
            <a:r>
              <a:rPr lang="en-US" sz="2000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of D Grades</a:t>
            </a:r>
            <a:endParaRPr lang="en-US" sz="2000" dirty="0">
              <a:solidFill>
                <a:srgbClr val="8F8F8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467850" y="4672310"/>
            <a:ext cx="7927627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7"/>
              </a:lnSpc>
            </a:pPr>
            <a:r>
              <a:rPr lang="en-US" sz="2000" dirty="0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Recommendation: </a:t>
            </a:r>
            <a:r>
              <a:rPr lang="en-US" sz="2000" dirty="0" smtClean="0">
                <a:solidFill>
                  <a:srgbClr val="8F8F8F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Encourage a </a:t>
            </a:r>
            <a:r>
              <a:rPr lang="en-US" sz="2000" dirty="0">
                <a:solidFill>
                  <a:srgbClr val="8F8F8F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wider access to tutoring programs to boost overall academic success and reduce failure rates.</a:t>
            </a:r>
            <a:endParaRPr lang="en-US" sz="2000" dirty="0">
              <a:solidFill>
                <a:srgbClr val="8F8F8F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mo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99" y="1977703"/>
            <a:ext cx="8416253" cy="6583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8904" y="0"/>
            <a:ext cx="18316903" cy="10320709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66465" y="497532"/>
            <a:ext cx="7093744" cy="78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250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Parental Education Impact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351" y="2488430"/>
            <a:ext cx="16755070" cy="31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Parental education level shows little influence on students’ weekly study time.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578" y="3413495"/>
            <a:ext cx="8110389" cy="66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4496" lvl="1" indent="-127248">
              <a:lnSpc>
                <a:spcPts val="2749"/>
              </a:lnSpc>
              <a:buFont typeface="Arial"/>
              <a:buChar char="•"/>
            </a:pPr>
            <a:r>
              <a:rPr lang="en-US" sz="2000" dirty="0">
                <a:solidFill>
                  <a:srgbClr val="8F8F8F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Median study time remains similar across all parental education levels.</a:t>
            </a:r>
            <a:endParaRPr lang="en-US" sz="2000" dirty="0">
              <a:solidFill>
                <a:srgbClr val="8F8F8F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m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77351" y="4199509"/>
            <a:ext cx="8110389" cy="66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4496" lvl="1" indent="-127248">
              <a:lnSpc>
                <a:spcPts val="2749"/>
              </a:lnSpc>
              <a:buFont typeface="Arial"/>
              <a:buChar char="•"/>
            </a:pP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Wide variation exists in every group, suggesting individual factors matter more.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2725" y="5177209"/>
            <a:ext cx="8110389" cy="66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000" b="1" dirty="0" smtClean="0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Recommendation:</a:t>
            </a: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Focus on motivating students directly rather than relying on parental background to influence study habits.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692" y="1714500"/>
            <a:ext cx="7485811" cy="5896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744200" y="0"/>
            <a:ext cx="7543800" cy="10287000"/>
            <a:chOff x="0" y="0"/>
            <a:chExt cx="100584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058400" cy="13716000"/>
            </a:xfrm>
            <a:custGeom>
              <a:avLst/>
              <a:gdLst/>
              <a:ahLst/>
              <a:cxnLst/>
              <a:rect l="l" t="t" r="r" b="b"/>
              <a:pathLst>
                <a:path w="10058400" h="137160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3681115"/>
            <a:ext cx="9445526" cy="2791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Unlocking Student Success: A Data-Driven Approach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543800" cy="10287000"/>
            <a:chOff x="0" y="0"/>
            <a:chExt cx="100584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058400" cy="13716000"/>
            </a:xfrm>
            <a:custGeom>
              <a:avLst/>
              <a:gdLst/>
              <a:ahLst/>
              <a:cxnLst/>
              <a:rect l="l" t="t" r="r" b="b"/>
              <a:pathLst>
                <a:path w="10058400" h="137160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7" y="3481239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Chapter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7" y="4093369"/>
            <a:ext cx="9445526" cy="2636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Key Insights from Student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2461766"/>
            <a:ext cx="9184333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Parental Education Impact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2747" y="4152789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Higher parental education levels strongly correlate with better student performance.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5" y="4815929"/>
            <a:ext cx="16313051" cy="1654374"/>
            <a:chOff x="0" y="0"/>
            <a:chExt cx="21750735" cy="22058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50781" cy="2205736"/>
            </a:xfrm>
            <a:custGeom>
              <a:avLst/>
              <a:gdLst/>
              <a:ahLst/>
              <a:cxnLst/>
              <a:rect l="l" t="t" r="r" b="b"/>
              <a:pathLst>
                <a:path w="21750781" h="2205736">
                  <a:moveTo>
                    <a:pt x="0" y="165100"/>
                  </a:moveTo>
                  <a:cubicBezTo>
                    <a:pt x="0" y="73914"/>
                    <a:pt x="74295" y="0"/>
                    <a:pt x="165989" y="0"/>
                  </a:cubicBezTo>
                  <a:lnTo>
                    <a:pt x="21584793" y="0"/>
                  </a:lnTo>
                  <a:lnTo>
                    <a:pt x="21584793" y="6350"/>
                  </a:lnTo>
                  <a:lnTo>
                    <a:pt x="21584793" y="0"/>
                  </a:lnTo>
                  <a:cubicBezTo>
                    <a:pt x="21676359" y="0"/>
                    <a:pt x="21750781" y="73914"/>
                    <a:pt x="21750781" y="165100"/>
                  </a:cubicBezTo>
                  <a:lnTo>
                    <a:pt x="21744431" y="165100"/>
                  </a:lnTo>
                  <a:lnTo>
                    <a:pt x="21750781" y="165100"/>
                  </a:lnTo>
                  <a:lnTo>
                    <a:pt x="21750781" y="2040636"/>
                  </a:lnTo>
                  <a:lnTo>
                    <a:pt x="21744431" y="2040636"/>
                  </a:lnTo>
                  <a:lnTo>
                    <a:pt x="21750781" y="2040636"/>
                  </a:lnTo>
                  <a:cubicBezTo>
                    <a:pt x="21750781" y="2131822"/>
                    <a:pt x="21676486" y="2205736"/>
                    <a:pt x="21584793" y="2205736"/>
                  </a:cubicBezTo>
                  <a:lnTo>
                    <a:pt x="21584793" y="2199386"/>
                  </a:lnTo>
                  <a:lnTo>
                    <a:pt x="21584793" y="2205736"/>
                  </a:lnTo>
                  <a:lnTo>
                    <a:pt x="165989" y="2205736"/>
                  </a:lnTo>
                  <a:lnTo>
                    <a:pt x="165989" y="2199386"/>
                  </a:lnTo>
                  <a:lnTo>
                    <a:pt x="165989" y="2205736"/>
                  </a:lnTo>
                  <a:cubicBezTo>
                    <a:pt x="74422" y="2205736"/>
                    <a:pt x="0" y="2131822"/>
                    <a:pt x="0" y="204063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40636"/>
                  </a:lnTo>
                  <a:lnTo>
                    <a:pt x="6350" y="2040636"/>
                  </a:lnTo>
                  <a:lnTo>
                    <a:pt x="12700" y="2040636"/>
                  </a:lnTo>
                  <a:cubicBezTo>
                    <a:pt x="12700" y="2124837"/>
                    <a:pt x="81280" y="2193036"/>
                    <a:pt x="165989" y="2193036"/>
                  </a:cubicBezTo>
                  <a:lnTo>
                    <a:pt x="21584793" y="2193036"/>
                  </a:lnTo>
                  <a:cubicBezTo>
                    <a:pt x="21669502" y="2193036"/>
                    <a:pt x="21738081" y="2124710"/>
                    <a:pt x="21738081" y="2040636"/>
                  </a:cubicBezTo>
                  <a:lnTo>
                    <a:pt x="21738081" y="165100"/>
                  </a:lnTo>
                  <a:cubicBezTo>
                    <a:pt x="21738081" y="80899"/>
                    <a:pt x="21669502" y="12700"/>
                    <a:pt x="21584793" y="12700"/>
                  </a:cubicBezTo>
                  <a:lnTo>
                    <a:pt x="165989" y="12700"/>
                  </a:lnTo>
                  <a:lnTo>
                    <a:pt x="165989" y="6350"/>
                  </a:lnTo>
                  <a:lnTo>
                    <a:pt x="165989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01762" y="4830216"/>
            <a:ext cx="16284476" cy="812899"/>
            <a:chOff x="0" y="0"/>
            <a:chExt cx="21712635" cy="10838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85280" y="4905077"/>
            <a:ext cx="757044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Bachelor's+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2280" y="4905077"/>
            <a:ext cx="757044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35.7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01762" y="5643116"/>
            <a:ext cx="16284476" cy="812899"/>
            <a:chOff x="0" y="0"/>
            <a:chExt cx="21712635" cy="10838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85280" y="5717976"/>
            <a:ext cx="757044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High School or less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2280" y="5717976"/>
            <a:ext cx="757044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18.2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2238" y="6679704"/>
            <a:ext cx="1630352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This clear progression highlights the need for additional support mechanisms for students from backgrounds with lower parental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2207865"/>
            <a:ext cx="8573392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Study Efficiency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848244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Study efficiency (</a:t>
            </a:r>
            <a:r>
              <a:rPr lang="en-US" sz="2187" dirty="0" err="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StudyTime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/Absences) is a more critical factor than raw study hours for student success.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3188" y="4547741"/>
            <a:ext cx="5283547" cy="2644527"/>
            <a:chOff x="0" y="0"/>
            <a:chExt cx="7044730" cy="3526037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6993890" cy="3475228"/>
            </a:xfrm>
            <a:custGeom>
              <a:avLst/>
              <a:gdLst/>
              <a:ahLst/>
              <a:cxnLst/>
              <a:rect l="l" t="t" r="r" b="b"/>
              <a:pathLst>
                <a:path w="6993890" h="3475228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6833997" y="0"/>
                  </a:lnTo>
                  <a:cubicBezTo>
                    <a:pt x="6922389" y="0"/>
                    <a:pt x="6993890" y="71120"/>
                    <a:pt x="6993890" y="158750"/>
                  </a:cubicBezTo>
                  <a:lnTo>
                    <a:pt x="6993890" y="3316478"/>
                  </a:lnTo>
                  <a:cubicBezTo>
                    <a:pt x="6993890" y="3404235"/>
                    <a:pt x="6922262" y="3475228"/>
                    <a:pt x="6833997" y="3475228"/>
                  </a:cubicBezTo>
                  <a:lnTo>
                    <a:pt x="159893" y="3475228"/>
                  </a:lnTo>
                  <a:cubicBezTo>
                    <a:pt x="71501" y="3475228"/>
                    <a:pt x="0" y="3404108"/>
                    <a:pt x="0" y="3316478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7044690" cy="3526028"/>
            </a:xfrm>
            <a:custGeom>
              <a:avLst/>
              <a:gdLst/>
              <a:ahLst/>
              <a:cxnLst/>
              <a:rect l="l" t="t" r="r" b="b"/>
              <a:pathLst>
                <a:path w="7044690" h="3526028">
                  <a:moveTo>
                    <a:pt x="0" y="184150"/>
                  </a:moveTo>
                  <a:cubicBezTo>
                    <a:pt x="0" y="82296"/>
                    <a:pt x="83185" y="0"/>
                    <a:pt x="185293" y="0"/>
                  </a:cubicBezTo>
                  <a:lnTo>
                    <a:pt x="6859397" y="0"/>
                  </a:lnTo>
                  <a:lnTo>
                    <a:pt x="6859397" y="25400"/>
                  </a:lnTo>
                  <a:lnTo>
                    <a:pt x="6859397" y="0"/>
                  </a:lnTo>
                  <a:cubicBezTo>
                    <a:pt x="6961632" y="0"/>
                    <a:pt x="7044690" y="82296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3341878"/>
                  </a:lnTo>
                  <a:lnTo>
                    <a:pt x="7019290" y="3341878"/>
                  </a:lnTo>
                  <a:lnTo>
                    <a:pt x="7044690" y="3341878"/>
                  </a:lnTo>
                  <a:cubicBezTo>
                    <a:pt x="7044690" y="3443732"/>
                    <a:pt x="6961505" y="3526028"/>
                    <a:pt x="6859397" y="3526028"/>
                  </a:cubicBezTo>
                  <a:lnTo>
                    <a:pt x="6859397" y="3500628"/>
                  </a:lnTo>
                  <a:lnTo>
                    <a:pt x="6859397" y="3526028"/>
                  </a:lnTo>
                  <a:lnTo>
                    <a:pt x="185293" y="3526028"/>
                  </a:lnTo>
                  <a:lnTo>
                    <a:pt x="185293" y="3500628"/>
                  </a:lnTo>
                  <a:lnTo>
                    <a:pt x="185293" y="3526028"/>
                  </a:lnTo>
                  <a:cubicBezTo>
                    <a:pt x="83185" y="3526028"/>
                    <a:pt x="0" y="3443732"/>
                    <a:pt x="0" y="334187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341878"/>
                  </a:lnTo>
                  <a:lnTo>
                    <a:pt x="25400" y="3341878"/>
                  </a:lnTo>
                  <a:lnTo>
                    <a:pt x="50800" y="3341878"/>
                  </a:lnTo>
                  <a:cubicBezTo>
                    <a:pt x="50800" y="3415411"/>
                    <a:pt x="110871" y="3475228"/>
                    <a:pt x="185293" y="3475228"/>
                  </a:cubicBezTo>
                  <a:lnTo>
                    <a:pt x="6859397" y="3475228"/>
                  </a:lnTo>
                  <a:cubicBezTo>
                    <a:pt x="6933819" y="3475228"/>
                    <a:pt x="6993890" y="3415284"/>
                    <a:pt x="6993890" y="3341878"/>
                  </a:cubicBezTo>
                  <a:lnTo>
                    <a:pt x="6993890" y="184150"/>
                  </a:lnTo>
                  <a:cubicBezTo>
                    <a:pt x="6993890" y="110617"/>
                    <a:pt x="6933819" y="50800"/>
                    <a:pt x="6859397" y="50800"/>
                  </a:cubicBezTo>
                  <a:lnTo>
                    <a:pt x="185293" y="50800"/>
                  </a:lnTo>
                  <a:lnTo>
                    <a:pt x="185293" y="25400"/>
                  </a:lnTo>
                  <a:lnTo>
                    <a:pt x="185293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92238" y="4566791"/>
            <a:ext cx="152400" cy="2606427"/>
            <a:chOff x="0" y="0"/>
            <a:chExt cx="203200" cy="34752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3200" cy="3475228"/>
            </a:xfrm>
            <a:custGeom>
              <a:avLst/>
              <a:gdLst/>
              <a:ahLst/>
              <a:cxnLst/>
              <a:rect l="l" t="t" r="r" b="b"/>
              <a:pathLst>
                <a:path w="203200" h="347522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73628"/>
                  </a:lnTo>
                  <a:cubicBezTo>
                    <a:pt x="203200" y="3429762"/>
                    <a:pt x="157734" y="3475228"/>
                    <a:pt x="101600" y="3475228"/>
                  </a:cubicBezTo>
                  <a:cubicBezTo>
                    <a:pt x="45466" y="3475228"/>
                    <a:pt x="0" y="3429762"/>
                    <a:pt x="0" y="33736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466255" y="4812209"/>
            <a:ext cx="4449812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High Efficiency, Moderate Study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6255" y="5839569"/>
            <a:ext cx="4449812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Outperformed those with high study time but poor attendance.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02152" y="4547741"/>
            <a:ext cx="5283547" cy="2644527"/>
            <a:chOff x="0" y="0"/>
            <a:chExt cx="7044730" cy="3526037"/>
          </a:xfrm>
        </p:grpSpPr>
        <p:sp>
          <p:nvSpPr>
            <p:cNvPr id="18" name="Freeform 18"/>
            <p:cNvSpPr/>
            <p:nvPr/>
          </p:nvSpPr>
          <p:spPr>
            <a:xfrm>
              <a:off x="25400" y="25400"/>
              <a:ext cx="6993890" cy="3475228"/>
            </a:xfrm>
            <a:custGeom>
              <a:avLst/>
              <a:gdLst/>
              <a:ahLst/>
              <a:cxnLst/>
              <a:rect l="l" t="t" r="r" b="b"/>
              <a:pathLst>
                <a:path w="6993890" h="3475228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6833997" y="0"/>
                  </a:lnTo>
                  <a:cubicBezTo>
                    <a:pt x="6922389" y="0"/>
                    <a:pt x="6993890" y="71120"/>
                    <a:pt x="6993890" y="158750"/>
                  </a:cubicBezTo>
                  <a:lnTo>
                    <a:pt x="6993890" y="3316478"/>
                  </a:lnTo>
                  <a:cubicBezTo>
                    <a:pt x="6993890" y="3404235"/>
                    <a:pt x="6922262" y="3475228"/>
                    <a:pt x="6833997" y="3475228"/>
                  </a:cubicBezTo>
                  <a:lnTo>
                    <a:pt x="159893" y="3475228"/>
                  </a:lnTo>
                  <a:cubicBezTo>
                    <a:pt x="71501" y="3475228"/>
                    <a:pt x="0" y="3404108"/>
                    <a:pt x="0" y="3316478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044690" cy="3526028"/>
            </a:xfrm>
            <a:custGeom>
              <a:avLst/>
              <a:gdLst/>
              <a:ahLst/>
              <a:cxnLst/>
              <a:rect l="l" t="t" r="r" b="b"/>
              <a:pathLst>
                <a:path w="7044690" h="3526028">
                  <a:moveTo>
                    <a:pt x="0" y="184150"/>
                  </a:moveTo>
                  <a:cubicBezTo>
                    <a:pt x="0" y="82296"/>
                    <a:pt x="83185" y="0"/>
                    <a:pt x="185293" y="0"/>
                  </a:cubicBezTo>
                  <a:lnTo>
                    <a:pt x="6859397" y="0"/>
                  </a:lnTo>
                  <a:lnTo>
                    <a:pt x="6859397" y="25400"/>
                  </a:lnTo>
                  <a:lnTo>
                    <a:pt x="6859397" y="0"/>
                  </a:lnTo>
                  <a:cubicBezTo>
                    <a:pt x="6961632" y="0"/>
                    <a:pt x="7044690" y="82296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3341878"/>
                  </a:lnTo>
                  <a:lnTo>
                    <a:pt x="7019290" y="3341878"/>
                  </a:lnTo>
                  <a:lnTo>
                    <a:pt x="7044690" y="3341878"/>
                  </a:lnTo>
                  <a:cubicBezTo>
                    <a:pt x="7044690" y="3443732"/>
                    <a:pt x="6961505" y="3526028"/>
                    <a:pt x="6859397" y="3526028"/>
                  </a:cubicBezTo>
                  <a:lnTo>
                    <a:pt x="6859397" y="3500628"/>
                  </a:lnTo>
                  <a:lnTo>
                    <a:pt x="6859397" y="3526028"/>
                  </a:lnTo>
                  <a:lnTo>
                    <a:pt x="185293" y="3526028"/>
                  </a:lnTo>
                  <a:lnTo>
                    <a:pt x="185293" y="3500628"/>
                  </a:lnTo>
                  <a:lnTo>
                    <a:pt x="185293" y="3526028"/>
                  </a:lnTo>
                  <a:cubicBezTo>
                    <a:pt x="83185" y="3526028"/>
                    <a:pt x="0" y="3443732"/>
                    <a:pt x="0" y="334187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341878"/>
                  </a:lnTo>
                  <a:lnTo>
                    <a:pt x="25400" y="3341878"/>
                  </a:lnTo>
                  <a:lnTo>
                    <a:pt x="50800" y="3341878"/>
                  </a:lnTo>
                  <a:cubicBezTo>
                    <a:pt x="50800" y="3415411"/>
                    <a:pt x="110871" y="3475228"/>
                    <a:pt x="185293" y="3475228"/>
                  </a:cubicBezTo>
                  <a:lnTo>
                    <a:pt x="6859397" y="3475228"/>
                  </a:lnTo>
                  <a:cubicBezTo>
                    <a:pt x="6933819" y="3475228"/>
                    <a:pt x="6993890" y="3415284"/>
                    <a:pt x="6993890" y="3341878"/>
                  </a:cubicBezTo>
                  <a:lnTo>
                    <a:pt x="6993890" y="184150"/>
                  </a:lnTo>
                  <a:cubicBezTo>
                    <a:pt x="6993890" y="110617"/>
                    <a:pt x="6933819" y="50800"/>
                    <a:pt x="6859397" y="50800"/>
                  </a:cubicBezTo>
                  <a:lnTo>
                    <a:pt x="185293" y="50800"/>
                  </a:lnTo>
                  <a:lnTo>
                    <a:pt x="185293" y="25400"/>
                  </a:lnTo>
                  <a:lnTo>
                    <a:pt x="185293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521202" y="4566791"/>
            <a:ext cx="152400" cy="2606427"/>
            <a:chOff x="0" y="0"/>
            <a:chExt cx="203200" cy="34752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3200" cy="3475228"/>
            </a:xfrm>
            <a:custGeom>
              <a:avLst/>
              <a:gdLst/>
              <a:ahLst/>
              <a:cxnLst/>
              <a:rect l="l" t="t" r="r" b="b"/>
              <a:pathLst>
                <a:path w="203200" h="347522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73628"/>
                  </a:lnTo>
                  <a:cubicBezTo>
                    <a:pt x="203200" y="3429762"/>
                    <a:pt x="157734" y="3475228"/>
                    <a:pt x="101600" y="3475228"/>
                  </a:cubicBezTo>
                  <a:cubicBezTo>
                    <a:pt x="45466" y="3475228"/>
                    <a:pt x="0" y="3429762"/>
                    <a:pt x="0" y="33736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6995220" y="4812209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Optimal Balance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95220" y="5396656"/>
            <a:ext cx="4449812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10-15 hours/week with fewer than 10 absences.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31116" y="4547741"/>
            <a:ext cx="5283547" cy="2644527"/>
            <a:chOff x="0" y="0"/>
            <a:chExt cx="7044730" cy="3526037"/>
          </a:xfrm>
        </p:grpSpPr>
        <p:sp>
          <p:nvSpPr>
            <p:cNvPr id="25" name="Freeform 25"/>
            <p:cNvSpPr/>
            <p:nvPr/>
          </p:nvSpPr>
          <p:spPr>
            <a:xfrm>
              <a:off x="25400" y="25400"/>
              <a:ext cx="6993890" cy="3475228"/>
            </a:xfrm>
            <a:custGeom>
              <a:avLst/>
              <a:gdLst/>
              <a:ahLst/>
              <a:cxnLst/>
              <a:rect l="l" t="t" r="r" b="b"/>
              <a:pathLst>
                <a:path w="6993890" h="3475228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6833997" y="0"/>
                  </a:lnTo>
                  <a:cubicBezTo>
                    <a:pt x="6922389" y="0"/>
                    <a:pt x="6993890" y="71120"/>
                    <a:pt x="6993890" y="158750"/>
                  </a:cubicBezTo>
                  <a:lnTo>
                    <a:pt x="6993890" y="3316478"/>
                  </a:lnTo>
                  <a:cubicBezTo>
                    <a:pt x="6993890" y="3404235"/>
                    <a:pt x="6922262" y="3475228"/>
                    <a:pt x="6833997" y="3475228"/>
                  </a:cubicBezTo>
                  <a:lnTo>
                    <a:pt x="159893" y="3475228"/>
                  </a:lnTo>
                  <a:cubicBezTo>
                    <a:pt x="71501" y="3475228"/>
                    <a:pt x="0" y="3404108"/>
                    <a:pt x="0" y="3316478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7044690" cy="3526028"/>
            </a:xfrm>
            <a:custGeom>
              <a:avLst/>
              <a:gdLst/>
              <a:ahLst/>
              <a:cxnLst/>
              <a:rect l="l" t="t" r="r" b="b"/>
              <a:pathLst>
                <a:path w="7044690" h="3526028">
                  <a:moveTo>
                    <a:pt x="0" y="184150"/>
                  </a:moveTo>
                  <a:cubicBezTo>
                    <a:pt x="0" y="82296"/>
                    <a:pt x="83185" y="0"/>
                    <a:pt x="185293" y="0"/>
                  </a:cubicBezTo>
                  <a:lnTo>
                    <a:pt x="6859397" y="0"/>
                  </a:lnTo>
                  <a:lnTo>
                    <a:pt x="6859397" y="25400"/>
                  </a:lnTo>
                  <a:lnTo>
                    <a:pt x="6859397" y="0"/>
                  </a:lnTo>
                  <a:cubicBezTo>
                    <a:pt x="6961632" y="0"/>
                    <a:pt x="7044690" y="82296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3341878"/>
                  </a:lnTo>
                  <a:lnTo>
                    <a:pt x="7019290" y="3341878"/>
                  </a:lnTo>
                  <a:lnTo>
                    <a:pt x="7044690" y="3341878"/>
                  </a:lnTo>
                  <a:cubicBezTo>
                    <a:pt x="7044690" y="3443732"/>
                    <a:pt x="6961505" y="3526028"/>
                    <a:pt x="6859397" y="3526028"/>
                  </a:cubicBezTo>
                  <a:lnTo>
                    <a:pt x="6859397" y="3500628"/>
                  </a:lnTo>
                  <a:lnTo>
                    <a:pt x="6859397" y="3526028"/>
                  </a:lnTo>
                  <a:lnTo>
                    <a:pt x="185293" y="3526028"/>
                  </a:lnTo>
                  <a:lnTo>
                    <a:pt x="185293" y="3500628"/>
                  </a:lnTo>
                  <a:lnTo>
                    <a:pt x="185293" y="3526028"/>
                  </a:lnTo>
                  <a:cubicBezTo>
                    <a:pt x="83185" y="3526028"/>
                    <a:pt x="0" y="3443732"/>
                    <a:pt x="0" y="334187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341878"/>
                  </a:lnTo>
                  <a:lnTo>
                    <a:pt x="25400" y="3341878"/>
                  </a:lnTo>
                  <a:lnTo>
                    <a:pt x="50800" y="3341878"/>
                  </a:lnTo>
                  <a:cubicBezTo>
                    <a:pt x="50800" y="3415411"/>
                    <a:pt x="110871" y="3475228"/>
                    <a:pt x="185293" y="3475228"/>
                  </a:cubicBezTo>
                  <a:lnTo>
                    <a:pt x="6859397" y="3475228"/>
                  </a:lnTo>
                  <a:cubicBezTo>
                    <a:pt x="6933819" y="3475228"/>
                    <a:pt x="6993890" y="3415284"/>
                    <a:pt x="6993890" y="3341878"/>
                  </a:cubicBezTo>
                  <a:lnTo>
                    <a:pt x="6993890" y="184150"/>
                  </a:lnTo>
                  <a:cubicBezTo>
                    <a:pt x="6993890" y="110617"/>
                    <a:pt x="6933819" y="50800"/>
                    <a:pt x="6859397" y="50800"/>
                  </a:cubicBezTo>
                  <a:lnTo>
                    <a:pt x="185293" y="50800"/>
                  </a:lnTo>
                  <a:lnTo>
                    <a:pt x="185293" y="25400"/>
                  </a:lnTo>
                  <a:lnTo>
                    <a:pt x="185293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050166" y="4566791"/>
            <a:ext cx="152400" cy="2606427"/>
            <a:chOff x="0" y="0"/>
            <a:chExt cx="203200" cy="347523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3200" cy="3475228"/>
            </a:xfrm>
            <a:custGeom>
              <a:avLst/>
              <a:gdLst/>
              <a:ahLst/>
              <a:cxnLst/>
              <a:rect l="l" t="t" r="r" b="b"/>
              <a:pathLst>
                <a:path w="203200" h="3475228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73628"/>
                  </a:lnTo>
                  <a:cubicBezTo>
                    <a:pt x="203200" y="3429762"/>
                    <a:pt x="157734" y="3475228"/>
                    <a:pt x="101600" y="3475228"/>
                  </a:cubicBezTo>
                  <a:cubicBezTo>
                    <a:pt x="45466" y="3475228"/>
                    <a:pt x="0" y="3429762"/>
                    <a:pt x="0" y="33736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524185" y="4812209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Diminishing Returns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24168" y="5746250"/>
            <a:ext cx="4449812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Beyond 15 hours/week when attendance is good.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238" y="7387381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Focus interventions on improving attendance AND study habits, not just increasing study hours.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3898404"/>
            <a:chOff x="0" y="0"/>
            <a:chExt cx="24384000" cy="519787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5197856"/>
            </a:xfrm>
            <a:custGeom>
              <a:avLst/>
              <a:gdLst/>
              <a:ahLst/>
              <a:cxnLst/>
              <a:rect l="l" t="t" r="r" b="b"/>
              <a:pathLst>
                <a:path w="24384000" h="5197856">
                  <a:moveTo>
                    <a:pt x="0" y="0"/>
                  </a:moveTo>
                  <a:lnTo>
                    <a:pt x="24384000" y="0"/>
                  </a:lnTo>
                  <a:lnTo>
                    <a:pt x="24384000" y="5197856"/>
                  </a:lnTo>
                  <a:lnTo>
                    <a:pt x="0" y="519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4" r="-3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5864721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Chapter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476851"/>
            <a:ext cx="14892635" cy="141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Model Selection &amp;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1966169"/>
            <a:ext cx="9973866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Model Selection &amp; Evaluation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7" y="3696593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We tested multiple machine learning models to ensure the most appropriate solution for predicting student performance.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522886"/>
            <a:ext cx="4252912" cy="61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Models Tested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983" y="5140225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Logistic Regression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6983" y="5692972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Support Vector Classifier (SVC)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983" y="6245720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K-Nearest Neighbors (KNN)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6983" y="6798467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Random Forest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983" y="7351215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XGBoost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4522886"/>
            <a:ext cx="4252912" cy="617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Evaluation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5686128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6238875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Log Loss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1" y="6791623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Precision/Recall/F1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1" y="7344370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Confusion Matrix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330418" y="486324"/>
            <a:ext cx="962716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Model Performance Comparison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0172" y="11147226"/>
            <a:ext cx="16947654" cy="37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XGBoost emerged as the top performer due to its ability to handle non-linear relationships, built-in regularization, and high accuracy with good generalization.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66700"/>
            <a:ext cx="914400" cy="520988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056" y="1333500"/>
            <a:ext cx="14117883" cy="833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330418" y="486324"/>
            <a:ext cx="9627161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Model Performance Comparison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0172" y="11147226"/>
            <a:ext cx="16947654" cy="37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XGBoost emerged as the top performer due to its ability to handle non-linear relationships, built-in regularization, and high accuracy with good generalization.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66700"/>
            <a:ext cx="914400" cy="520988"/>
          </a:xfrm>
          <a:prstGeom prst="rect">
            <a:avLst/>
          </a:prstGeom>
          <a:solidFill>
            <a:srgbClr val="19171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056" y="1333500"/>
            <a:ext cx="14117883" cy="8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5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85800" y="365895"/>
            <a:ext cx="11794034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Feature Importance (Random Forest)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9457" y="1177219"/>
            <a:ext cx="16882467" cy="29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0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Our engineered impact features are significantly more predictive than raw features.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65298" y="1596724"/>
            <a:ext cx="15359743" cy="8569634"/>
            <a:chOff x="0" y="0"/>
            <a:chExt cx="22509957" cy="12605543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2509987" cy="12605512"/>
            </a:xfrm>
            <a:custGeom>
              <a:avLst/>
              <a:gdLst/>
              <a:ahLst/>
              <a:cxnLst/>
              <a:rect l="l" t="t" r="r" b="b"/>
              <a:pathLst>
                <a:path w="22509987" h="12605512">
                  <a:moveTo>
                    <a:pt x="0" y="0"/>
                  </a:moveTo>
                  <a:lnTo>
                    <a:pt x="22509987" y="0"/>
                  </a:lnTo>
                  <a:lnTo>
                    <a:pt x="22509987" y="12605512"/>
                  </a:lnTo>
                  <a:lnTo>
                    <a:pt x="0" y="1260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4" b="-34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750095"/>
            <a:ext cx="7694562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Key Insights Summary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2616845"/>
            <a:ext cx="708720" cy="708720"/>
            <a:chOff x="0" y="0"/>
            <a:chExt cx="944960" cy="94496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4" b="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92238" y="3603724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Study Efficiency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4188173"/>
            <a:ext cx="519826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Crucial for success, not just hours spent.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44866" y="2616845"/>
            <a:ext cx="708720" cy="708720"/>
            <a:chOff x="0" y="0"/>
            <a:chExt cx="944960" cy="94496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544866" y="3603724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Attendance Impact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44866" y="4380424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Stronger negative impact than study time's positive.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97494" y="2616845"/>
            <a:ext cx="708720" cy="708720"/>
            <a:chOff x="0" y="0"/>
            <a:chExt cx="944960" cy="94496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2097494" y="3603724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Parental Education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97494" y="4617132"/>
            <a:ext cx="5198269" cy="410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smtClean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Low impact on student 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outcomes.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92238" y="5767239"/>
            <a:ext cx="708720" cy="708720"/>
            <a:chOff x="0" y="0"/>
            <a:chExt cx="944960" cy="94496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4" b="4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92238" y="6754117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Targeted Tutoring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238" y="7639793"/>
            <a:ext cx="519826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Most effective for struggling students.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544866" y="5767239"/>
            <a:ext cx="708720" cy="708720"/>
            <a:chOff x="0" y="0"/>
            <a:chExt cx="944960" cy="94496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945007" cy="945007"/>
            </a:xfrm>
            <a:custGeom>
              <a:avLst/>
              <a:gdLst/>
              <a:ahLst/>
              <a:cxnLst/>
              <a:rect l="l" t="t" r="r" b="b"/>
              <a:pathLst>
                <a:path w="945007" h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4" b="4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6544866" y="6754117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Extracurriculars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44866" y="7338566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Moderate involvement (1-2 activities) correlates with best outcomes.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238" y="8564761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These insights shift focus from traditional metrics to a more nuanced understanding of student performance drivers.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90" y="-1314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4836" y="513161"/>
            <a:ext cx="5206602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Actionable Recommendations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326057"/>
            <a:ext cx="8962579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For School Administrators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756" y="3241771"/>
            <a:ext cx="70544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3688854"/>
            <a:ext cx="5245447" cy="38100"/>
            <a:chOff x="0" y="0"/>
            <a:chExt cx="6993930" cy="50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02749" y="4008377"/>
            <a:ext cx="5245447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Implement Early Warning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836" y="4922191"/>
            <a:ext cx="5245447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Track </a:t>
            </a:r>
            <a:r>
              <a:rPr lang="en-US" sz="2187" dirty="0" err="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Absence_Rate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lang="en-US" sz="2187" dirty="0" err="1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Study_Efficiency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74505" y="3263357"/>
            <a:ext cx="127250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21202" y="3688854"/>
            <a:ext cx="5245447" cy="38100"/>
            <a:chOff x="0" y="0"/>
            <a:chExt cx="6993930" cy="50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521202" y="4003608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Target Tutoring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31713" y="4666804"/>
            <a:ext cx="5245447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For students with &gt;10 absences or &lt;5 hours weekly study.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03470" y="3220194"/>
            <a:ext cx="174113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50166" y="3688854"/>
            <a:ext cx="5245447" cy="38100"/>
            <a:chOff x="0" y="0"/>
            <a:chExt cx="6993930" cy="50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93890" cy="50800"/>
            </a:xfrm>
            <a:custGeom>
              <a:avLst/>
              <a:gdLst/>
              <a:ahLst/>
              <a:cxnLst/>
              <a:rect l="l" t="t" r="r" b="b"/>
              <a:pathLst>
                <a:path w="6993890" h="5080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050166" y="4008330"/>
            <a:ext cx="5245447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Parental Engagement Programs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50166" y="4857899"/>
            <a:ext cx="5245447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Develop for families with lower education levels.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3996" y="6322070"/>
            <a:ext cx="214260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04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92238" y="6809780"/>
            <a:ext cx="8009930" cy="38100"/>
            <a:chOff x="0" y="0"/>
            <a:chExt cx="10679907" cy="50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986050" y="7082583"/>
            <a:ext cx="4765922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Study Efficiency Workshops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6050" y="7946306"/>
            <a:ext cx="800993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Focus on efficiency, not just more study hours.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94994" y="6361695"/>
            <a:ext cx="150160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05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85685" y="6809780"/>
            <a:ext cx="8009930" cy="38100"/>
            <a:chOff x="0" y="0"/>
            <a:chExt cx="10679907" cy="50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9215697" y="7069861"/>
            <a:ext cx="604465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8F8F8F"/>
                </a:solidFill>
                <a:latin typeface="Monami"/>
                <a:ea typeface="Monami"/>
                <a:cs typeface="Monami"/>
                <a:sym typeface="Monami"/>
              </a:rPr>
              <a:t>Promote Balanced Extracurriculars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15697" y="7900763"/>
            <a:ext cx="8009930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Encourage 1-2 meaningful activities.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2147" y="8631120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 dirty="0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Implementation Strategy:</a:t>
            </a:r>
            <a:r>
              <a:rPr lang="en-US" sz="2187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Start with pilot programs for at-risk students identified by our model before scaling.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38100"/>
            <a:ext cx="18288000" cy="103251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543800" cy="10287000"/>
            <a:chOff x="0" y="0"/>
            <a:chExt cx="100584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058400" cy="13716000"/>
            </a:xfrm>
            <a:custGeom>
              <a:avLst/>
              <a:gdLst/>
              <a:ahLst/>
              <a:cxnLst/>
              <a:rect l="l" t="t" r="r" b="b"/>
              <a:pathLst>
                <a:path w="10058400" h="137160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7" y="1352996"/>
            <a:ext cx="7846963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smtClean="0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Future Work Improvements</a:t>
            </a:r>
            <a:endParaRPr lang="en-US" sz="5562" dirty="0">
              <a:solidFill>
                <a:srgbClr val="DDDDDD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28967" y="3301900"/>
            <a:ext cx="4720233" cy="479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endParaRPr lang="en-US" sz="3312" dirty="0">
              <a:solidFill>
                <a:srgbClr val="DDDDDD"/>
              </a:solidFill>
              <a:latin typeface="Monami"/>
              <a:ea typeface="Monami"/>
              <a:cs typeface="Monami"/>
              <a:sym typeface="Monam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47608" y="3981300"/>
            <a:ext cx="784696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32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Collect more granular study method 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7608" y="4746387"/>
            <a:ext cx="690130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32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Add qualitative feedback mechanisms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0236" y="5973139"/>
            <a:ext cx="690130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32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Track student performance over time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47607" y="7199891"/>
            <a:ext cx="690130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3200" dirty="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Incorporate teacher assessments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4242">
                <a:alpha val="90196"/>
              </a:srgbClr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5599881" y="2689561"/>
            <a:ext cx="7088237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dirty="0">
                <a:solidFill>
                  <a:srgbClr val="FFFFFF"/>
                </a:solidFill>
                <a:latin typeface="Monami"/>
                <a:ea typeface="Monami"/>
                <a:cs typeface="Monami"/>
                <a:sym typeface="Monami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4800" y="4252435"/>
            <a:ext cx="5670649" cy="62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3200" dirty="0">
                <a:solidFill>
                  <a:srgbClr val="FFFFFF"/>
                </a:solidFill>
                <a:latin typeface="Monami"/>
                <a:ea typeface="Monami"/>
                <a:cs typeface="Monami"/>
                <a:sym typeface="Monami"/>
              </a:rPr>
              <a:t>Key Takeaways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356237"/>
            <a:ext cx="16303526" cy="41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Student performance is multi-factorial - no single factor explains everything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983937"/>
            <a:ext cx="1630352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</a:t>
            </a:r>
            <a:r>
              <a:rPr lang="en-US" sz="2400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KNN 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 </a:t>
            </a:r>
            <a:r>
              <a:rPr lang="en-US" sz="2400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(97.1% </a:t>
            </a:r>
            <a:r>
              <a:rPr lang="en-US" sz="2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accuracy) can reliably identify at-risk students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612885"/>
            <a:ext cx="16303526" cy="41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Study efficiency and consistent attendance matter more than absolute study hours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241832"/>
            <a:ext cx="16303526" cy="41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Targeted interventions based on data can significantly improve outcomes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744200" y="0"/>
            <a:ext cx="7543800" cy="10287000"/>
            <a:chOff x="0" y="0"/>
            <a:chExt cx="100584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058400" cy="13716000"/>
            </a:xfrm>
            <a:custGeom>
              <a:avLst/>
              <a:gdLst/>
              <a:ahLst/>
              <a:cxnLst/>
              <a:rect l="l" t="t" r="r" b="b"/>
              <a:pathLst>
                <a:path w="10058400" h="137160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70807" y="4127747"/>
            <a:ext cx="7088237" cy="101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>
                <a:solidFill>
                  <a:srgbClr val="DDDDDD"/>
                </a:solidFill>
                <a:latin typeface="Monami"/>
                <a:ea typeface="Monami"/>
                <a:cs typeface="Monami"/>
                <a:sym typeface="Monami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467499"/>
            <a:ext cx="9445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For more information or to discuss implementation, please contact 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891</Words>
  <Application>Microsoft Office PowerPoint</Application>
  <PresentationFormat>Custom</PresentationFormat>
  <Paragraphs>147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Monami</vt:lpstr>
      <vt:lpstr>Calibri</vt:lpstr>
      <vt:lpstr>Arimo</vt:lpstr>
      <vt:lpstr>Arial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Performance Comparison</dc:title>
  <dc:creator>PC-1</dc:creator>
  <cp:lastModifiedBy>PC-1</cp:lastModifiedBy>
  <cp:revision>21</cp:revision>
  <dcterms:created xsi:type="dcterms:W3CDTF">2006-08-16T00:00:00Z</dcterms:created>
  <dcterms:modified xsi:type="dcterms:W3CDTF">2025-08-28T10:30:41Z</dcterms:modified>
  <dc:identifier>DAGxUeDWhOo</dc:identifier>
</cp:coreProperties>
</file>